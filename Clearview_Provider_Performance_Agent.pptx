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331720"/>
            <a:ext cx="1188720" cy="635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"/>
              </a:rPr>
              <a:t>Clearview Medical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461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2DD4BF"/>
                </a:solidFill>
                <a:latin typeface="Segoe UI"/>
              </a:rPr>
              <a:t>AI-Powered Provider Performance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E5E9F0"/>
                </a:solidFill>
                <a:latin typeface="Segoe UI"/>
              </a:rPr>
              <a:t>Built on the Claude Agent SDK — the same SDK that powers 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100% Synthetic Data  ·  No Real Patient or Provider PHI  ·  Hackathon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1526"/>
                </a:solidFill>
                <a:latin typeface="Segoe UI"/>
              </a:rPr>
              <a:t>Revenue-Cycle Teams Are Drowning in Manual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0584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>
                <a:solidFill>
                  <a:srgbClr val="1F2937"/>
                </a:solidFill>
                <a:latin typeface="Segoe UI"/>
              </a:rPr>
              <a:t>▪ Practice administrators manually scan dozens of provider scorecards every week</a:t>
            </a:r>
          </a:p>
          <a:p>
            <a:pPr algn="l">
              <a:spcAft>
                <a:spcPts val="1600"/>
              </a:spcAft>
            </a:pPr>
            <a:r>
              <a:rPr sz="2000">
                <a:solidFill>
                  <a:srgbClr val="1F2937"/>
                </a:solidFill>
                <a:latin typeface="Segoe UI"/>
              </a:rPr>
              <a:t>▪ Risk signals — denials, declining scores — surface too late to act on proactively</a:t>
            </a:r>
          </a:p>
          <a:p>
            <a:pPr algn="l">
              <a:spcAft>
                <a:spcPts val="1600"/>
              </a:spcAft>
            </a:pPr>
            <a:r>
              <a:rPr sz="2000">
                <a:solidFill>
                  <a:srgbClr val="1F2937"/>
                </a:solidFill>
                <a:latin typeface="Segoe UI"/>
              </a:rPr>
              <a:t>▪ Drafting emails, scheduling reviews, and building reports eats analyst time</a:t>
            </a:r>
          </a:p>
          <a:p>
            <a:pPr algn="l">
              <a:spcAft>
                <a:spcPts val="1600"/>
              </a:spcAft>
            </a:pPr>
            <a:r>
              <a:rPr sz="2000">
                <a:solidFill>
                  <a:srgbClr val="1F2937"/>
                </a:solidFill>
                <a:latin typeface="Segoe UI"/>
              </a:rPr>
              <a:t>▪ Provider data arrives in disparate formats (FHIR, HL7v2, CSV), slowing 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Clearview Medical Group — Provider Performance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Segoe U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1526"/>
                </a:solidFill>
                <a:latin typeface="Segoe UI"/>
              </a:rPr>
              <a:t>One Agent, Two Surfaces, Full Visibility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0584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>
                <a:solidFill>
                  <a:srgbClr val="1F2937"/>
                </a:solidFill>
                <a:latin typeface="Segoe UI"/>
              </a:rPr>
              <a:t>▪ A single AI agent core reasons over provider, claims, and policy data</a:t>
            </a:r>
          </a:p>
          <a:p>
            <a:pPr algn="l">
              <a:spcAft>
                <a:spcPts val="1600"/>
              </a:spcAft>
            </a:pPr>
            <a:r>
              <a:rPr sz="2000">
                <a:solidFill>
                  <a:srgbClr val="1F2937"/>
                </a:solidFill>
                <a:latin typeface="Segoe UI"/>
              </a:rPr>
              <a:t>▪ Surfaced through a live analytics dashboard and a standalone CLI</a:t>
            </a:r>
          </a:p>
          <a:p>
            <a:pPr algn="l">
              <a:spcAft>
                <a:spcPts val="1600"/>
              </a:spcAft>
            </a:pPr>
            <a:r>
              <a:rPr sz="2000">
                <a:solidFill>
                  <a:srgbClr val="1F2937"/>
                </a:solidFill>
                <a:latin typeface="Segoe UI"/>
              </a:rPr>
              <a:t>▪ Proactively flags at-risk providers instead of waiting to be asked</a:t>
            </a:r>
          </a:p>
          <a:p>
            <a:pPr algn="l">
              <a:spcAft>
                <a:spcPts val="1600"/>
              </a:spcAft>
            </a:pPr>
            <a:r>
              <a:rPr sz="2000">
                <a:solidFill>
                  <a:srgbClr val="1F2937"/>
                </a:solidFill>
                <a:latin typeface="Segoe UI"/>
              </a:rPr>
              <a:t>▪ Automates the busywork: drafting emails, scheduling reviews, generating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Clearview Medical Group — Provider Performance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1526"/>
                </a:solidFill>
                <a:latin typeface="Segoe UI"/>
              </a:rPr>
              <a:t>Built on the Same SDK That Powers Claude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0584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2606040" cy="393192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260604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Segoe U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React + TypeScript + Vite + Tailwind 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22402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E5E9F0"/>
                </a:solidFill>
                <a:latin typeface="Segoe UI"/>
              </a:rPr>
              <a:t>Dashboard UI, compare view, provider detail panels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965960"/>
            <a:ext cx="2606040" cy="393192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965960"/>
            <a:ext cx="260604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19456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Segoe U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60604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FastAPI + Python + 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794760"/>
            <a:ext cx="22402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E5E9F0"/>
                </a:solidFill>
                <a:latin typeface="Segoe UI"/>
              </a:rPr>
              <a:t>REST API, seeded synthetic data, persists across restarts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965960"/>
            <a:ext cx="2606040" cy="393192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965960"/>
            <a:ext cx="260604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9456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Segoe UI"/>
              </a:rPr>
              <a:t>AGENT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Claude Agent SDK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94760"/>
            <a:ext cx="22402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E5E9F0"/>
                </a:solidFill>
                <a:latin typeface="Segoe UI"/>
              </a:rPr>
              <a:t>Shared agent definition — powers both web chat and CLI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1965960"/>
            <a:ext cx="2606040" cy="393192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1965960"/>
            <a:ext cx="260604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219456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Segoe UI"/>
              </a:rPr>
              <a:t>AI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60604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Claude API (Opus 4.8)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794760"/>
            <a:ext cx="22402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E5E9F0"/>
                </a:solidFill>
                <a:latin typeface="Segoe UI"/>
              </a:rPr>
              <a:t>Insights, reports, email drafts — rule-based fallback if no key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Clearview Medical Group — Provider Performance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Segoe UI"/>
              </a:rPr>
              <a:t>THE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1526"/>
                </a:solidFill>
                <a:latin typeface="Segoe UI"/>
              </a:rPr>
              <a:t>One Definition, Shared Everywhere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0584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F2937"/>
                </a:solidFill>
                <a:latin typeface="Segoe UI"/>
              </a:rPr>
              <a:t>▪ backend/app/agent/ — a single agent definition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Segoe UI"/>
              </a:rPr>
              <a:t>      – Web chat widget → POST /api/chat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Segoe UI"/>
              </a:rPr>
              <a:t>      – Standalone CLI agent (agent_cli.py) — REPL or one-shot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2937"/>
                </a:solidFill>
                <a:latin typeface="Segoe UI"/>
              </a:rPr>
              <a:t>▪ 7 whitelisted tools: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Segoe UI"/>
              </a:rPr>
              <a:t>      – search_providers, get_provider_claims, compare_providers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Segoe UI"/>
              </a:rPr>
              <a:t>      – summarize_department, search_policy_knowledge (TF-IDF RAG)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Segoe UI"/>
              </a:rPr>
              <a:t>      – send_email, schedule_appointment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965960"/>
            <a:ext cx="4663440" cy="3931920"/>
          </a:xfrm>
          <a:prstGeom prst="rect">
            <a:avLst/>
          </a:prstGeom>
          <a:solidFill>
            <a:srgbClr val="0B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0" y="1965960"/>
            <a:ext cx="466344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1945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Segoe UI"/>
              </a:rPr>
              <a:t>SECURITY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651760"/>
            <a:ext cx="4114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>
                <a:solidFill>
                  <a:srgbClr val="E5E9F0"/>
                </a:solidFill>
                <a:latin typeface="Segoe UI"/>
              </a:rPr>
              <a:t>▪ Claude Agent SDK defaults to full Claude Code tool access (Bash, Read, Write, WebSearch...)</a:t>
            </a:r>
          </a:p>
          <a:p>
            <a:pPr algn="l">
              <a:spcAft>
                <a:spcPts val="1000"/>
              </a:spcAft>
            </a:pPr>
            <a:r>
              <a:rPr sz="1350">
                <a:solidFill>
                  <a:srgbClr val="E5E9F0"/>
                </a:solidFill>
                <a:latin typeface="Segoe UI"/>
              </a:rPr>
              <a:t>▪ allowed_tools alone does NOT restrict execution — verified empirically</a:t>
            </a:r>
          </a:p>
          <a:p>
            <a:pPr algn="l">
              <a:spcAft>
                <a:spcPts val="1000"/>
              </a:spcAft>
            </a:pPr>
            <a:r>
              <a:rPr sz="1350">
                <a:solidFill>
                  <a:srgbClr val="E5E9F0"/>
                </a:solidFill>
                <a:latin typeface="Segoe UI"/>
              </a:rPr>
              <a:t>▪ Enforced instead by a PreToolUse deny-by-default hook (security.py)</a:t>
            </a:r>
          </a:p>
          <a:p>
            <a:pPr algn="l">
              <a:spcAft>
                <a:spcPts val="1000"/>
              </a:spcAft>
            </a:pPr>
            <a:r>
              <a:rPr sz="1350">
                <a:solidFill>
                  <a:srgbClr val="E5E9F0"/>
                </a:solidFill>
                <a:latin typeface="Segoe UI"/>
              </a:rPr>
              <a:t>▪ Tested: PowerShell, Read, Write, WebSearch, ToolSearch all blocked; only the 7 app tools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Clearview Medical Group — Provider Performance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Segoe UI"/>
              </a:rPr>
              <a:t>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1526"/>
                </a:solidFill>
                <a:latin typeface="Segoe UI"/>
              </a:rPr>
              <a:t>See Risk Before It's a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0584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>
                <a:solidFill>
                  <a:srgbClr val="1F2937"/>
                </a:solidFill>
                <a:latin typeface="Segoe UI"/>
              </a:rPr>
              <a:t>▪ Gradient KPI tiles: total providers, average score, critical/high-risk count, top performer</a:t>
            </a:r>
          </a:p>
          <a:p>
            <a:pPr algn="l">
              <a:spcAft>
                <a:spcPts val="1600"/>
              </a:spcAft>
            </a:pPr>
            <a:r>
              <a:rPr sz="2000">
                <a:solidFill>
                  <a:srgbClr val="1F2937"/>
                </a:solidFill>
                <a:latin typeface="Segoe UI"/>
              </a:rPr>
              <a:t>▪ AI Proactive Insights panel reasons over real provider data — never just min/max</a:t>
            </a:r>
          </a:p>
          <a:p>
            <a:pPr algn="l">
              <a:spcAft>
                <a:spcPts val="1600"/>
              </a:spcAft>
            </a:pPr>
            <a:r>
              <a:rPr sz="2000">
                <a:solidFill>
                  <a:srgbClr val="1F2937"/>
                </a:solidFill>
                <a:latin typeface="Segoe UI"/>
              </a:rPr>
              <a:t>▪ Searchable, sortable provider table with a Flagged-for-Review tab</a:t>
            </a:r>
          </a:p>
          <a:p>
            <a:pPr algn="l">
              <a:spcAft>
                <a:spcPts val="1600"/>
              </a:spcAft>
            </a:pPr>
            <a:r>
              <a:rPr sz="2000">
                <a:solidFill>
                  <a:srgbClr val="1F2937"/>
                </a:solidFill>
                <a:latin typeface="Segoe UI"/>
              </a:rPr>
              <a:t>▪ "Stuck-at-Risk" badge for providers at high/critical risk for 2+ consecutive quarters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Clearview Medical Group — Provider Performance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Segoe UI"/>
              </a:rPr>
              <a:t>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1526"/>
                </a:solidFill>
                <a:latin typeface="Segoe UI"/>
              </a:rPr>
              <a:t>From Portfolio View to Provider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0584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900">
                <a:solidFill>
                  <a:srgbClr val="1F2937"/>
                </a:solidFill>
                <a:latin typeface="Segoe UI"/>
              </a:rPr>
              <a:t>▪ Compare mode: side-by-side view of up to 4 providers — scores, metrics, radar overlay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1F2937"/>
                </a:solidFill>
                <a:latin typeface="Segoe UI"/>
              </a:rPr>
              <a:t>      – Shareable /compare?ids=... URL, with group email/scheduling actions</a:t>
            </a:r>
          </a:p>
          <a:p>
            <a:pPr algn="l">
              <a:spcAft>
                <a:spcPts val="1300"/>
              </a:spcAft>
            </a:pPr>
            <a:r>
              <a:rPr sz="1900">
                <a:solidFill>
                  <a:srgbClr val="1F2937"/>
                </a:solidFill>
                <a:latin typeface="Segoe UI"/>
              </a:rPr>
              <a:t>▪ Provider detail slide-over panel: Overview / Metrics / Claims History / Actions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1F2937"/>
                </a:solidFill>
                <a:latin typeface="Segoe UI"/>
              </a:rPr>
              <a:t>      – Metrics: historical trend charts, current-vs-peer comparison popups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1F2937"/>
                </a:solidFill>
                <a:latin typeface="Segoe UI"/>
              </a:rPr>
              <a:t>      – Claims History: paginated claim detail, denial reasons, recurring-pattern flags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Clearview Medical Group — Provider Performance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Segoe UI"/>
              </a:rPr>
              <a:t>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1526"/>
                </a:solidFill>
                <a:latin typeface="Segoe UI"/>
              </a:rPr>
              <a:t>Close the Loop — Email, Schedule,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0584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>
                <a:solidFill>
                  <a:srgbClr val="1F2937"/>
                </a:solidFill>
                <a:latin typeface="Segoe UI"/>
              </a:rPr>
              <a:t>▪ AI-drafted, editable provider emails — logged to an in-app outbox</a:t>
            </a:r>
          </a:p>
          <a:p>
            <a:pPr algn="l">
              <a:spcAft>
                <a:spcPts val="1600"/>
              </a:spcAft>
            </a:pPr>
            <a:r>
              <a:rPr sz="2000">
                <a:solidFill>
                  <a:srgbClr val="1F2937"/>
                </a:solidFill>
                <a:latin typeface="Segoe UI"/>
              </a:rPr>
              <a:t>▪ AI-suggested meeting agendas with auto-confirmation emails</a:t>
            </a:r>
          </a:p>
          <a:p>
            <a:pPr algn="l">
              <a:spcAft>
                <a:spcPts val="1600"/>
              </a:spcAft>
            </a:pPr>
            <a:r>
              <a:rPr sz="2000">
                <a:solidFill>
                  <a:srgbClr val="1F2937"/>
                </a:solidFill>
                <a:latin typeface="Segoe UI"/>
              </a:rPr>
              <a:t>▪ One-click PDF/CSV report export, per provider or full practice</a:t>
            </a:r>
          </a:p>
          <a:p>
            <a:pPr algn="l">
              <a:spcAft>
                <a:spcPts val="1600"/>
              </a:spcAft>
            </a:pPr>
            <a:r>
              <a:rPr sz="2000">
                <a:solidFill>
                  <a:srgbClr val="1F2937"/>
                </a:solidFill>
                <a:latin typeface="Segoe UI"/>
              </a:rPr>
              <a:t>▪ AI Practice Review: weekly/monthly/quarterly findings + priority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Clearview Medical Group — Provider Performance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Segoe UI"/>
              </a:rPr>
              <a:t>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1526"/>
                </a:solidFill>
                <a:latin typeface="Segoe UI"/>
              </a:rPr>
              <a:t>Bring Your Own Data — FHIR, HL7v2, or CSV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0584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>
                <a:solidFill>
                  <a:srgbClr val="1F2937"/>
                </a:solidFill>
                <a:latin typeface="Segoe UI"/>
              </a:rPr>
              <a:t>▪ Upload wizard auto-detects the format</a:t>
            </a:r>
          </a:p>
          <a:p>
            <a:pPr algn="l">
              <a:spcAft>
                <a:spcPts val="1600"/>
              </a:spcAft>
            </a:pPr>
            <a:r>
              <a:rPr sz="2000">
                <a:solidFill>
                  <a:srgbClr val="1F2937"/>
                </a:solidFill>
                <a:latin typeface="Segoe UI"/>
              </a:rPr>
              <a:t>▪ Previews parsed results with warnings for anything it couldn't extract</a:t>
            </a:r>
          </a:p>
          <a:p>
            <a:pPr algn="l">
              <a:spcAft>
                <a:spcPts val="1600"/>
              </a:spcAft>
            </a:pPr>
            <a:r>
              <a:rPr sz="2000">
                <a:solidFill>
                  <a:srgbClr val="1F2937"/>
                </a:solidFill>
                <a:latin typeface="Segoe UI"/>
              </a:rPr>
              <a:t>▪ Missing identity fields backfilled with representative synthetic data</a:t>
            </a:r>
          </a:p>
          <a:p>
            <a:pPr algn="l">
              <a:spcAft>
                <a:spcPts val="1600"/>
              </a:spcAft>
            </a:pPr>
            <a:r>
              <a:rPr sz="2000">
                <a:solidFill>
                  <a:srgbClr val="1F2937"/>
                </a:solidFill>
                <a:latin typeface="Segoe UI"/>
              </a:rPr>
              <a:t>▪ Commits only after explicit user confirmation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Clearview Medical Group — Provider Performance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  <a:latin typeface="Segoe UI"/>
              </a:rPr>
              <a:t>SECURITY &amp;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Reviewed, Not Just Demoed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0584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solidFill>
                  <a:srgbClr val="E5E9F0"/>
                </a:solidFill>
                <a:latin typeface="Segoe UI"/>
              </a:rPr>
              <a:t>▪ 100% synthetic data — no real patient or provider PHI, ever (persistent disclaimer)</a:t>
            </a:r>
          </a:p>
          <a:p>
            <a:pPr algn="l">
              <a:spcAft>
                <a:spcPts val="1300"/>
              </a:spcAft>
            </a:pPr>
            <a:r>
              <a:rPr sz="1800">
                <a:solidFill>
                  <a:srgbClr val="E5E9F0"/>
                </a:solidFill>
                <a:latin typeface="Segoe UI"/>
              </a:rPr>
              <a:t>▪ Agent sandboxed to exactly 7 tools via a PreToolUse deny-by-default hook</a:t>
            </a:r>
          </a:p>
          <a:p>
            <a:pPr algn="l">
              <a:spcAft>
                <a:spcPts val="1300"/>
              </a:spcAft>
            </a:pPr>
            <a:r>
              <a:rPr sz="1800">
                <a:solidFill>
                  <a:srgbClr val="E5E9F0"/>
                </a:solidFill>
                <a:latin typeface="Segoe UI"/>
              </a:rPr>
              <a:t>▪ All database access via SQLAlchemy ORM — no raw SQL, no subprocess/eval/exec/pickle</a:t>
            </a:r>
          </a:p>
          <a:p>
            <a:pPr algn="l">
              <a:spcAft>
                <a:spcPts val="1300"/>
              </a:spcAft>
            </a:pPr>
            <a:r>
              <a:rPr sz="1800">
                <a:solidFill>
                  <a:srgbClr val="E5E9F0"/>
                </a:solidFill>
                <a:latin typeface="Segoe UI"/>
              </a:rPr>
              <a:t>▪ No dangerouslySetInnerHTML — AI-generated text always rendered as plain text</a:t>
            </a:r>
          </a:p>
          <a:p>
            <a:pPr algn="l">
              <a:spcAft>
                <a:spcPts val="1300"/>
              </a:spcAft>
            </a:pPr>
            <a:r>
              <a:rPr sz="1800">
                <a:solidFill>
                  <a:srgbClr val="E5E9F0"/>
                </a:solidFill>
                <a:latin typeface="Segoe UI"/>
              </a:rPr>
              <a:t>▪ pip-audit: zero known vulnerabilities in application dependencies</a:t>
            </a:r>
          </a:p>
          <a:p>
            <a:pPr algn="l">
              <a:spcAft>
                <a:spcPts val="1300"/>
              </a:spcAft>
            </a:pPr>
            <a:r>
              <a:rPr sz="1800">
                <a:solidFill>
                  <a:srgbClr val="E5E9F0"/>
                </a:solidFill>
                <a:latin typeface="Segoe UI"/>
              </a:rPr>
              <a:t>▪ Uploads parsed in memory only (no path traversal), capped at 5MB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B93"/>
                </a:solidFill>
                <a:latin typeface="Segoe UI"/>
              </a:rPr>
              <a:t>Clearview Medical Group — Provider Performance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B93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Segoe UI"/>
              </a:rPr>
              <a:t>DISCLOSED, NOT HIDDEN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1526"/>
                </a:solidFill>
                <a:latin typeface="Segoe UI"/>
              </a:rPr>
              <a:t>What We'd Harden Before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0584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>
                <a:solidFill>
                  <a:srgbClr val="1F2937"/>
                </a:solidFill>
                <a:latin typeface="Segoe UI"/>
              </a:rPr>
              <a:t>▪ Mock authentication — any email/password accepted (demo UX, no real credential store)</a:t>
            </a:r>
          </a:p>
          <a:p>
            <a:pPr algn="l">
              <a:spcAft>
                <a:spcPts val="1600"/>
              </a:spcAft>
            </a:pPr>
            <a:r>
              <a:rPr sz="2000">
                <a:solidFill>
                  <a:srgbClr val="1F2937"/>
                </a:solidFill>
                <a:latin typeface="Segoe UI"/>
              </a:rPr>
              <a:t>▪ No rate limiting on Claude-backed endpoints (chat, insights, reports)</a:t>
            </a:r>
          </a:p>
          <a:p>
            <a:pPr algn="l">
              <a:spcAft>
                <a:spcPts val="1600"/>
              </a:spcAft>
            </a:pPr>
            <a:r>
              <a:rPr sz="2000">
                <a:solidFill>
                  <a:srgbClr val="1F2937"/>
                </a:solidFill>
                <a:latin typeface="Segoe UI"/>
              </a:rPr>
              <a:t>▪ Email sending is simulated/logged, not real SMTP</a:t>
            </a:r>
          </a:p>
          <a:p>
            <a:pPr algn="l">
              <a:spcAft>
                <a:spcPts val="1600"/>
              </a:spcAft>
            </a:pPr>
            <a:r>
              <a:rPr sz="2000">
                <a:solidFill>
                  <a:srgbClr val="1F2937"/>
                </a:solidFill>
                <a:latin typeface="Segoe UI"/>
              </a:rPr>
              <a:t>▪ FHIR/HL7v2 parsing is a pragmatic subset, not certified health-IT interoperability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Clearview Medical Group — Provider Performance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280160"/>
            <a:ext cx="1188720" cy="635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See It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DD4BF"/>
                </a:solidFill>
                <a:latin typeface="Segoe UI"/>
              </a:rP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651760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http://localhost:5173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DD4BF"/>
                </a:solidFill>
                <a:latin typeface="Segoe UI"/>
              </a:rPr>
              <a:t>Backend API 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246120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http://localhost:8000/docs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DD4BF"/>
                </a:solidFill>
                <a:latin typeface="Segoe UI"/>
              </a:rPr>
              <a:t>CLI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840480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cd backend &amp;&amp; .venv\Scripts\python agent_cli.py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Thank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Clearview Medical Group — synthetic data only, built end-to-end with the Claude Agent SDK.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